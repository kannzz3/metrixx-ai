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8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spc="2000" kern="0" dirty="0">
                <a:solidFill>
                  <a:srgbClr val="7C5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MXXI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1371600" y="2788920"/>
            <a:ext cx="9418320" cy="2743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80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1000" kern="0" dirty="0">
                <a:solidFill>
                  <a:srgbClr val="DDE2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METRIXX / ILLINI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Server Initiative  ·  Powered by UIUC MSFE Quant Team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KICKOFF  ·  JUNE 3,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4572000"/>
            <a:ext cx="2286000" cy="868680"/>
          </a:xfrm>
          <a:prstGeom prst="rect">
            <a:avLst/>
          </a:prstGeom>
          <a:solidFill>
            <a:srgbClr val="0D0F22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4617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12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4572000"/>
            <a:ext cx="2286000" cy="868680"/>
          </a:xfrm>
          <a:prstGeom prst="rect">
            <a:avLst/>
          </a:prstGeom>
          <a:solidFill>
            <a:srgbClr val="0D0F22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4617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ILLINI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80960" y="4572000"/>
            <a:ext cx="2286000" cy="868680"/>
          </a:xfrm>
          <a:prstGeom prst="rect">
            <a:avLst/>
          </a:prstGeom>
          <a:solidFill>
            <a:srgbClr val="0D0F22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4617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INTERNS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8096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 Marzano  ·  Founder &amp; CEO, Metrixx LLC  ·  CBOT/CME Member  ·  Founding Member GNMA Mortgage Futures  ·  Original Bloomberg Data Contributor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822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MXXI — WHAT WE'RE BUILDING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intern server that accelerates Demo Day and cements team authorship on a live institutional product.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6629400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METRIXX-ILLINI  ·  MXXI  ·  CONFIDENTIAL  ·  DEMO DAY JUNE 12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303520" cy="5029200"/>
          </a:xfrm>
          <a:prstGeom prst="rect">
            <a:avLst/>
          </a:prstGeom>
          <a:solidFill>
            <a:srgbClr val="0D0F22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7C5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MISSION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METRIXX-ILLINI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dedicated development server — isolated from production — where the intern team builds, tests, and deploys independently.
</a:t>
            </a:r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Name: MXXI
</a:t>
            </a:r>
            <a:pPr indent="0" marL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goals:
</a:t>
            </a:r>
            <a:pPr indent="0" marL="0">
              <a:buNone/>
            </a:pPr>
            <a:r>
              <a:rPr lang="en-US" sz="12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Accelerate Phase 1 deliverables to Demo Day
</a:t>
            </a:r>
            <a:pPr indent="0" marL="0">
              <a:buNone/>
            </a:pPr>
            <a:r>
              <a:rPr lang="en-US" sz="12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Cement each team member's authorship on a live product
</a:t>
            </a:r>
            <a:pPr indent="0" marL="0">
              <a:buNone/>
            </a:pPr>
            <a:r>
              <a:rPr lang="en-US" sz="12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Build a reusable architecture for Phase 2 (MRS, PREQUEL, VAULT Upload)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5852160" cy="5029200"/>
          </a:xfrm>
          <a:prstGeom prst="rect">
            <a:avLst/>
          </a:prstGeom>
          <a:solidFill>
            <a:srgbClr val="0D0F22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80760" y="10972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MILESTONES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554480"/>
            <a:ext cx="914400" cy="38404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5544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86600" y="15910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provisioned. Coolify + Cursor activated. New Claude API key live.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2167128"/>
            <a:ext cx="914400" cy="38404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167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86600" y="22037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migrated to ILLINI (Anna). Rocket.Chat provisioned.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2779776"/>
            <a:ext cx="9144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77977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86600" y="28163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Lambert delivers ETF prompt section to Aras.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3392424"/>
            <a:ext cx="914400" cy="38404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39242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6600" y="34290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Dimitris exposes 3 read-only API endpoints (Futures, Gamma Playbook, MIXX) with rate-limited dev key.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4005072"/>
            <a:ext cx="9144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40050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86600" y="40416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Typeform webhooks redirected to ILLINI (Anna).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4617720"/>
            <a:ext cx="914400" cy="3840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46177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86600" y="465429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— Phase 1 MVP live.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5230368"/>
            <a:ext cx="914400" cy="384048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52303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13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86600" y="526694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begins: MRS MVP, PREQUEL Agent, VAULT Upload.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822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MXXI — COMMAND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 holds full command authority over METRIXX-ILLINI. Dimitris owns production platform only.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6629400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METRIXX-ILLINI  ·  MXXI  ·  CONFIDENTIAL  ·  DEMO DAY JUNE 12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251960" y="960120"/>
            <a:ext cx="3657600" cy="822960"/>
          </a:xfrm>
          <a:prstGeom prst="rect">
            <a:avLst/>
          </a:prstGeom>
          <a:solidFill>
            <a:srgbClr val="0D0F22"/>
          </a:solidFill>
          <a:ln w="12700">
            <a:solidFill>
              <a:srgbClr val="E8C8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JIM MARZANO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5196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Strategic Direction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0" y="1783080"/>
            <a:ext cx="91440" cy="365760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240280"/>
            <a:ext cx="5394960" cy="914400"/>
          </a:xfrm>
          <a:prstGeom prst="rect">
            <a:avLst/>
          </a:prstGeom>
          <a:solidFill>
            <a:srgbClr val="0D0F22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2860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JOCELYN WU — TECHNICAL LEAD (ILLINI)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command authority over METRIXX-ILLINI  ·  Code Authority  ·  Python/C++/SQL  ·  ICMRED 2024 publication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2240280"/>
            <a:ext cx="5486400" cy="914400"/>
          </a:xfrm>
          <a:prstGeom prst="rect">
            <a:avLst/>
          </a:prstGeom>
          <a:solidFill>
            <a:srgbClr val="0D0F2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286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DIMITRIS — DEVOPS (PRODUCTION ONLY)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606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server only  ·  Must expose 3 read-only API endpoints by Jun 8  ·  No ILLINI architecture decisions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8892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 TEAM — REPORTS TO JOCELYN WU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11430000" cy="18288"/>
          </a:xfrm>
          <a:prstGeom prst="rect">
            <a:avLst/>
          </a:prstGeom>
          <a:solidFill>
            <a:srgbClr val="1C1E38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749040"/>
            <a:ext cx="2743200" cy="2560320"/>
          </a:xfrm>
          <a:prstGeom prst="rect">
            <a:avLst/>
          </a:prstGeom>
          <a:solidFill>
            <a:srgbClr val="0D0F22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49040"/>
            <a:ext cx="2743200" cy="32004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LAMBERT HSU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Lead · MRS MVP · PREQUEL Agent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Primary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46120" y="3749040"/>
            <a:ext cx="2743200" cy="2560320"/>
          </a:xfrm>
          <a:prstGeom prst="rect">
            <a:avLst/>
          </a:prstGeom>
          <a:solidFill>
            <a:srgbClr val="0D0F22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749040"/>
            <a:ext cx="2743200" cy="3200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ARAS CHANG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Authority · Claude Code · Visual Ingestion Hub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5943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Critical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3749040"/>
            <a:ext cx="2743200" cy="2560320"/>
          </a:xfrm>
          <a:prstGeom prst="rect">
            <a:avLst/>
          </a:prstGeom>
          <a:solidFill>
            <a:srgbClr val="0D0F2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749040"/>
            <a:ext cx="274320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ZILIN MAO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Futures Prompts · MASSIVE Data Feed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5943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006840" y="3749040"/>
            <a:ext cx="2743200" cy="2560320"/>
          </a:xfrm>
          <a:prstGeom prst="rect">
            <a:avLst/>
          </a:prstGeom>
          <a:solidFill>
            <a:srgbClr val="0D0F22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06840" y="3749040"/>
            <a:ext cx="2743200" cy="32004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ANNA / CONG WANG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098280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Migration · Rocket.Chat · Typeform Webhooks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098280" y="5943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Infrastructure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822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JOCELYN WU — TECHNICAL LEAD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Lead · Code Authority · Python/C++/SQL · ICMRED 2024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6629400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METRIXX-ILLINI  ·  MXXI  ·  CONFIDENTIAL  ·  DEMO DAY JUNE 12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7772400" cy="5212080"/>
          </a:xfrm>
          <a:prstGeom prst="rect">
            <a:avLst/>
          </a:prstGeom>
          <a:solidFill>
            <a:srgbClr val="0D0F22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DELIVERABLES  (→ DEMO DAY JUN 12)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production integration — owns the API key, model selection, and token budget for ILLINI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WATOS™ scoring pipeline — five-factor /99 composite score appended to every Gamma Playbook report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Catalog architecture — encrypted, tiered prompt library schema and access control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validation — confirm Anna's migration against production spec before Jun 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233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VAULT™ file-naming standard enforcement — WATOS_{SUBSCRIBER_ID}_{UNDERLYING}_{STRATEGY_CODE}_{YYYYMMDD}_{SESSION}.ext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 ownership — delegates to team members, retains final authority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5303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Kickoff Prep — Prompt Catalog mockup with Lambert (Claude design artifact, first Phase 2 week-one deliverable)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0" y="1005840"/>
            <a:ext cx="3383280" cy="2377440"/>
          </a:xfrm>
          <a:prstGeom prst="rect">
            <a:avLst/>
          </a:prstGeom>
          <a:solidFill>
            <a:srgbClr val="0D0F22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49640" y="1097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49640" y="14630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Authority — final say on all ILLINI commits
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owner for ILLINI workspace
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Jocelyn may block or revert any intern's production push
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for Aras's Claude Code integration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12480" y="3566160"/>
            <a:ext cx="3383280" cy="2651760"/>
          </a:xfrm>
          <a:prstGeom prst="rect">
            <a:avLst/>
          </a:prstGeom>
          <a:solidFill>
            <a:srgbClr val="0D0F22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4964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PREVIEW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49640" y="40233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Upload infrastructure (enabling dep for Lambert's MRS + PREQUEL)
</a:t>
            </a:r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Upload endpoint live target: ~Jun 20
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Intelligence Layer — ICMRED 2024 publication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822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LAMBERT HSU — DEPUTY LEAD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Prompts · MIXX Regime Classification · MRS MVP · PREQUEL Agent (Phase 2)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6629400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METRIXX-ILLINI  ·  MXXI  ·  CONFIDENTIAL  ·  DEMO DAY JUNE 12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303520" cy="2468880"/>
          </a:xfrm>
          <a:prstGeom prst="rect">
            <a:avLst/>
          </a:prstGeom>
          <a:solidFill>
            <a:srgbClr val="0D0F2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— PRE JUNE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Prompt Section: 3 entries to Aras by Jun 7 (SPY regime, sector rotation, vol overlay)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MIXX ETF Regime Classification: co-author rules with Zilin, deliver spec to Jocelyn by Jun 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5852160" cy="2468880"/>
          </a:xfrm>
          <a:prstGeom prst="rect">
            <a:avLst/>
          </a:prstGeom>
          <a:solidFill>
            <a:srgbClr val="0D0F22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0972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C5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DEPUTY LEAD ROLE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80760" y="146304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Lambert serves as Jocelyn's deputy and owns the Real Estate vertical in full. His classmate relationship with Jocelyn is a sprint accelerator — zero ramp-up on working trust. Lambert activates Phase 2 immediately June 13.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5486400" cy="2834640"/>
          </a:xfrm>
          <a:prstGeom prst="rect">
            <a:avLst/>
          </a:prstGeom>
          <a:solidFill>
            <a:srgbClr val="0D0F22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749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— MRS MVP (June 13–30)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Inbound Lead Capture (Typeform → PostgreSQL)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58114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2: Triage + Requirements Distribution (loan type classification)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50474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3: Document Ingestion (Make.com broker portal automation)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551383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4: Rate Engine — Optimal Blue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598017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 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5: Disposition + Follow-Up → VAULT archive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657600"/>
            <a:ext cx="5669280" cy="2834640"/>
          </a:xfrm>
          <a:prstGeom prst="rect">
            <a:avLst/>
          </a:prstGeom>
          <a:solidFill>
            <a:srgbClr val="0D0F22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3749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4D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— PREQUEL AGENT (June 13–30)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411480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Intake: Typeform → PostgreSQL principal/PASSPORT classification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458114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3-source parallel (MRED, private markets, PROVIDER candidates)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504748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Claude at 66% match threshold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551383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Price-banded ranked results, up to 3 properties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5980176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Optional MRS handoff on rate inquiry trigger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822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ARAS CHANG — WEBSITE AUTHORITY &amp; CLAUDE CODE LEAD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Ingestion Hub · New Metrixx.ai Website · Prompt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6629400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METRIXX-ILLINI  ·  MXXI  ·  CONFIDENTIAL  ·  DEMO DAY JUNE 12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669280" cy="2468880"/>
          </a:xfrm>
          <a:prstGeom prst="rect">
            <a:avLst/>
          </a:prstGeom>
          <a:solidFill>
            <a:srgbClr val="0D0F22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5669280" cy="3474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METRIXX.AI WEBSITE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417320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using Claude Code. No clone of existing React/Node.js site. Claude-generated SVG graphics, new logo (3 directions), consistent design system. Aras owns all code and commits. Escalation path: Dimitris for infra only.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005840"/>
            <a:ext cx="5669280" cy="2468880"/>
          </a:xfrm>
          <a:prstGeom prst="rect">
            <a:avLst/>
          </a:prstGeom>
          <a:solidFill>
            <a:srgbClr val="0D0F22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005840"/>
            <a:ext cx="5669280" cy="34747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00584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INGESTION 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73368" y="1417320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Claude API + Rocket.Chat pipeline (MAKE.com removed from ingestion scope). ClamAV 3-layer security scanning before any file processing. TradingView screenshots, PDFs, Excel sheets → structured intelligence output.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5669280" cy="2468880"/>
          </a:xfrm>
          <a:prstGeom prst="rect">
            <a:avLst/>
          </a:prstGeom>
          <a:solidFill>
            <a:srgbClr val="0D0F2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49040"/>
            <a:ext cx="56692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4904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CATALOG — ENGINEERING LAYER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4160520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ETF prompts from Lambert by Jun 7. Owns catalog formatting, encryption tagging, and tiering schema. Works with Jocelyn on access control. Demo Day deliverable: encrypted Prompt Catalog with at minimum Futures, Gamma Playbook, and ETF sections populated.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749040"/>
            <a:ext cx="5669280" cy="2468880"/>
          </a:xfrm>
          <a:prstGeom prst="rect">
            <a:avLst/>
          </a:prstGeom>
          <a:solidFill>
            <a:srgbClr val="0D0F22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749040"/>
            <a:ext cx="5669280" cy="34747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74904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SUBSCRIPTION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73368" y="4160520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Claude Code Pro immediately. This is the primary build tool for the website and ingestion pipeline. Aras is the team's Claude Code authority — other interns route Claude Code questions through Aras, not Jocelyn (protect Jocelyn's capacity).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822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ZILIN MAO — ANALYTICS SPECIALIST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Profile · Order Flow · Futures Prompts · MASSIVE Data Feed · BASIS 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6629400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METRIXX-ILLINI  ·  MXXI  ·  CONFIDENTIAL  ·  DEMO DAY JUNE 12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CATALOG — ANALYTICS COVERAGE (ZILIN'S DOMAIN)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4754880"/>
        </p:xfrm>
        <a:graphic>
          <a:graphicData uri="http://schemas.openxmlformats.org/drawingml/2006/table">
            <a:tbl>
              <a:tblPr/>
              <a:tblGrid>
                <a:gridCol w="1828800"/>
                <a:gridCol w="3749040"/>
                <a:gridCol w="2011680"/>
                <a:gridCol w="2011680"/>
                <a:gridCol w="18288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SIGNALS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Profile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TPO, VAH/VAL/POC, HVN/LVN, Initial Balance, Day Type Classification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Sierra Chart / MASSIVE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JSON → MY DESK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Zilin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Delta, Aggressor-Side Imbalance, Volume Velocity, Book 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(tick data)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Playbook overlay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Zilin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 Futures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MES, MNQ, MCL, MGC — position sizing, vol regimes, rollover triggers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CME via MASSIVE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Internal-use prompts (gated)*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Zilin + Lambert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MIXX Signals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across top 25 CME futures, GEX layer, Level 2 volume composite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CME / SpotGamma equiv.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MIXX score /100 → subscriber feed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Zilin + Lambert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Commodity / BASIS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EIA, USDA AMS, CFTC COT, Baker Hughes rig count (–10 trigger)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Gov Sources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SENTIMENT alert → MY DESK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Zilin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Playbook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 GEX, buy/sell pressure, options strategy scenarios + WATOS™ /99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SpotGamma / internal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report + WATOS™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Jocelyn (WATOS) / Zilin (data)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Data Feed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June 2026 — tick data, snapshots, OHLC, Globex session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Massive.io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CME delayed endpoint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Zilin (validate by Jun 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61264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Micro Futures internal prompts gated — Jim must confirm production-readiness before release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822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ANNA / CONG WANG — INFRASTRUCTURE MIGRATION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· Rocket.Chat Provisioning · Typeform Webhooks · Excel / XLAM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6629400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METRIXX-ILLINI  ·  MXXI  ·  CONFIDENTIAL  ·  DEMO DAY JUNE 12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669280" cy="2514600"/>
          </a:xfrm>
          <a:prstGeom prst="rect">
            <a:avLst/>
          </a:prstGeom>
          <a:solidFill>
            <a:srgbClr val="0D0F22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188720" cy="34747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4–5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0424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 Schema Migration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444752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schema-only from production (no live data). Restore to METRIXX-ILLINI DB. No subscriber records migrate — intern team works against a clean schema. Validate with Jocelyn before Jun 6.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005840"/>
            <a:ext cx="5669280" cy="2514600"/>
          </a:xfrm>
          <a:prstGeom prst="rect">
            <a:avLst/>
          </a:prstGeom>
          <a:solidFill>
            <a:srgbClr val="0D0F22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005840"/>
            <a:ext cx="1188720" cy="3474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0058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5–6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43800" y="10424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Rocket.Chat Provisioning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3368" y="1444752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illini.metrixx.ai (or intern.metrixx.ai). Configure channels mirroring production MY DESK structure. Create intern user accounts. No subscriber data crosses.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5669280" cy="2514600"/>
          </a:xfrm>
          <a:prstGeom prst="rect">
            <a:avLst/>
          </a:prstGeom>
          <a:solidFill>
            <a:srgbClr val="0D0F2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94760"/>
            <a:ext cx="11887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947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6–7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38313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Typeform Webhook Redirection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233672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ILLINI-bound Typeform submissions (REGISTRY intake, PREQUEL form) to the ILLINI PostgreSQL instance. Production webhooks untouched. Confirm with Lambert before redirect is live.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794760"/>
            <a:ext cx="5669280" cy="2514600"/>
          </a:xfrm>
          <a:prstGeom prst="rect">
            <a:avLst/>
          </a:prstGeom>
          <a:solidFill>
            <a:srgbClr val="0D0F22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3794760"/>
            <a:ext cx="1188720" cy="34747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7947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ONGOING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43800" y="38313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/ XLAM Reporting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73368" y="4233672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Rate Deal File (6 sheets) and PREQUEL Property Deal File (7 sheets) — backend-push versioning via openpyxl. Cell ownership protection: backend-owned vs subscriber-owned ranges enforced.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822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MXXI — SERVER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interface between PRODUCTION and METRIXX-ILLINI. Kill-switch on all intern access via separate API key.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6629400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METRIXX-ILLINI  ·  MXXI  ·  CONFIDENTIAL  ·  DEMO DAY JUNE 12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029200" cy="5212080"/>
          </a:xfrm>
          <a:prstGeom prst="rect">
            <a:avLst/>
          </a:prstGeom>
          <a:solidFill>
            <a:srgbClr val="0A0C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9047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chat.metrixx.ai (MY DESK / Rocket.Chat)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093976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21408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Coolify / Linux — Dimitris owns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724912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52344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live subscriber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355848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83280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Production key (Dimitris)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986784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14216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Webflow — public marketing site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617720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4515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VAULT™ — subscriber archives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5248656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276088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Playbook + WATOS™ — live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3200400"/>
            <a:ext cx="1554480" cy="5029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LINK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16168" y="3383280"/>
            <a:ext cx="320040" cy="1371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005840"/>
            <a:ext cx="5029200" cy="5212080"/>
          </a:xfrm>
          <a:prstGeom prst="rect">
            <a:avLst/>
          </a:prstGeom>
          <a:solidFill>
            <a:srgbClr val="0A0C1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METRIXX-ILLINI (MXXI)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95160" y="1463040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149047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illini.metrixx.ai (Rocket.Chat — new)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95160" y="2093976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2121408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Coolify / Linux — Jocelyn owns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95160" y="2724912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2752344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schema-only clone, no live 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95160" y="3355848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3383280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ILLINI key (Jocelyn, $200/mo cap)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95160" y="3986784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4014216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VAULT™ — schema stub, test records only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95160" y="4617720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1C1E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464515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Aras leads, Cursor active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95160" y="5248656"/>
            <a:ext cx="4754880" cy="502920"/>
          </a:xfrm>
          <a:prstGeom prst="rect">
            <a:avLst/>
          </a:prstGeom>
          <a:solidFill>
            <a:srgbClr val="0D0F2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5276088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Read-only API endpoints from Dimitris (Jun 8)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MXXI AUTHORSHIP COMPACT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member's name ships with the product.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521440" cy="960120"/>
          </a:xfrm>
          <a:prstGeom prst="rect">
            <a:avLst/>
          </a:prstGeom>
          <a:solidFill>
            <a:srgbClr val="0D0F22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103120" cy="9601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JOCELYN WU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161288"/>
            <a:ext cx="9235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 &amp; Code Authority. Your name anchors the Claude API integration and WATOS™ scoring pipeline. ICMRED 2024 authorship extends into Metrixx's RPM intelligence layer in Phase 2.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11521440" cy="960120"/>
          </a:xfrm>
          <a:prstGeom prst="rect">
            <a:avLst/>
          </a:prstGeom>
          <a:solidFill>
            <a:srgbClr val="0D0F2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67128"/>
            <a:ext cx="210312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6712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LAMBERT HSU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2231136"/>
            <a:ext cx="9235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Lead. Your name is on the MRS MVP and PREQUEL Agent — the Bloomberg Terminal equivalent for mortgage and real estate intelligence. First institutional real estate AI product built on this architecture.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236976"/>
            <a:ext cx="11521440" cy="960120"/>
          </a:xfrm>
          <a:prstGeom prst="rect">
            <a:avLst/>
          </a:prstGeom>
          <a:solidFill>
            <a:srgbClr val="0D0F22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236976"/>
            <a:ext cx="2103120" cy="96012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236976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ARAS CHANG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3300984"/>
            <a:ext cx="9235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Claude Code Authority. The new metrixx.ai is your build. Every SVG, design system component, and Visual Ingestion Hub pipeline commit has your authorship.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306824"/>
            <a:ext cx="11521440" cy="960120"/>
          </a:xfrm>
          <a:prstGeom prst="rect">
            <a:avLst/>
          </a:prstGeom>
          <a:solidFill>
            <a:srgbClr val="0D0F22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4306824"/>
            <a:ext cx="2103120" cy="9601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306824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ZILIN MAO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4370832"/>
            <a:ext cx="9235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Specialist. Your prompt catalog section — Market Profile, Order Flow, Micro Futures, BASIS SERVICE, MASSIVE data feed — is the analytical engine every subscriber touches.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5376672"/>
            <a:ext cx="11521440" cy="960120"/>
          </a:xfrm>
          <a:prstGeom prst="rect">
            <a:avLst/>
          </a:prstGeom>
          <a:solidFill>
            <a:srgbClr val="0D0F22"/>
          </a:solidFill>
          <a:ln w="12700">
            <a:solidFill>
              <a:srgbClr val="00B8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5376672"/>
            <a:ext cx="2103120" cy="9601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5376672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ANNA / CONG WANG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14600" y="5440680"/>
            <a:ext cx="9235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Foundation. The PostgreSQL migration, Rocket.Chat provisioning, and Typeform webhook architecture you build is what every other intern's work runs on. Invisible when it works. Irreplaceable.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 Marzano · Founder &amp; CEO, Metrixx LLC · CBOT/CME Member · Founding Member GNMA Mortgage Futures · Original Bloomberg Data Contributor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MXXI — Metrixx/ILLINI Team Kickoff</dc:title>
  <dc:subject>PptxGenJS Presentation</dc:subject>
  <dc:creator>Metrixx LLC</dc:creator>
  <cp:lastModifiedBy>Metrixx LLC</cp:lastModifiedBy>
  <cp:revision>1</cp:revision>
  <dcterms:created xsi:type="dcterms:W3CDTF">2026-06-04T00:47:40Z</dcterms:created>
  <dcterms:modified xsi:type="dcterms:W3CDTF">2026-06-04T00:47:40Z</dcterms:modified>
</cp:coreProperties>
</file>